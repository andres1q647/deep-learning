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926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DRES1Q647/DEEP-LEARNING.g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4997196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3200400" cy="4924044"/>
          </a:xfrm>
          <a:prstGeom prst="rect">
            <a:avLst/>
          </a:prstGeom>
          <a:solidFill>
            <a:srgbClr val="0A153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0" y="3566160"/>
            <a:ext cx="3200400" cy="15133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0" y="82296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</a:rPr>
              <a:t>P1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37160" y="3703320"/>
            <a:ext cx="2926080" cy="1220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Deep Learning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2026-I</a:t>
            </a:r>
          </a:p>
          <a:p>
            <a:pPr marL="0" indent="0" algn="ctr">
              <a:buNone/>
            </a:pPr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https://github.com/ANDRES1Q647/DEEP-LEARNING.git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8" name="Text 6"/>
          <p:cNvSpPr/>
          <p:nvPr/>
        </p:nvSpPr>
        <p:spPr>
          <a:xfrm>
            <a:off x="3566160" y="502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C39A"/>
                </a:solidFill>
              </a:rPr>
              <a:t>UNIVERSIDAD MILITAR NUEVA GRANADA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566160" y="7772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Facultad de Ingeniería — Deep Learning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66160" y="114300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Clasificación de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Diagnósticos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Médicos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3566160" y="3122676"/>
            <a:ext cx="1024128" cy="7315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566160" y="3140964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3433572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Preprocesamiento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681728" y="3122676"/>
            <a:ext cx="1024128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681728" y="3140964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81728" y="3433572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Distribución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797296" y="3122676"/>
            <a:ext cx="1024128" cy="731520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797296" y="3140964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97296" y="3433572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Modelo MLP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912864" y="3122676"/>
            <a:ext cx="1024128" cy="73152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912864" y="3140964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12864" y="3433572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Hiperparámetros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8028432" y="3122676"/>
            <a:ext cx="1024128" cy="73152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8028432" y="3140964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28432" y="3433572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Evaluación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566160" y="4005072"/>
            <a:ext cx="5303520" cy="816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Fecha de entrega: 23 de febrero de 2026</a:t>
            </a:r>
          </a:p>
          <a:p>
            <a:pPr marL="0" indent="0">
              <a:buNone/>
            </a:pPr>
            <a:endParaRPr lang="en-US" sz="850" dirty="0">
              <a:solidFill>
                <a:srgbClr val="64748B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sz="850" dirty="0">
                <a:solidFill>
                  <a:srgbClr val="64748B"/>
                </a:solidFill>
              </a:rPr>
              <a:t>Andres Felipe Caraballo Cardenas.</a:t>
            </a:r>
          </a:p>
          <a:p>
            <a:pPr marL="171450" indent="-171450">
              <a:buFontTx/>
              <a:buChar char="-"/>
            </a:pPr>
            <a:r>
              <a:rPr lang="en-US" sz="850" dirty="0">
                <a:solidFill>
                  <a:srgbClr val="64748B"/>
                </a:solidFill>
              </a:rPr>
              <a:t>Andres Felipe Restrepo Gonzalez.</a:t>
            </a:r>
          </a:p>
          <a:p>
            <a:pPr marL="171450" indent="-171450">
              <a:buFontTx/>
              <a:buChar char="-"/>
            </a:pPr>
            <a:r>
              <a:rPr lang="en-US" sz="850" dirty="0">
                <a:solidFill>
                  <a:srgbClr val="64748B"/>
                </a:solidFill>
              </a:rPr>
              <a:t>Belky Valentina Giron Lopez.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0" cy="5669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PASO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63040" y="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PRE-PROCESAMIENTO DE LOS DATOS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¿Qué se hizo con los datos antes de entrenar?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Dataset: Exámenes de laboratorio.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371600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47472" y="1371600"/>
            <a:ext cx="64008" cy="107899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11480" y="1371600"/>
            <a:ext cx="475488" cy="4754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1148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144475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Carga del dataset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87552" y="175564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Se leyó el archivo Excel con pandas.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Se verificó la estructura y tipos de datos de cada columna.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82312" y="1371600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782312" y="1371600"/>
            <a:ext cx="64008" cy="107899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846320" y="1371600"/>
            <a:ext cx="475488" cy="4754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84632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22392" y="144475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Eliminación de nulos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22392" y="175564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Se aplicó dropna() para eliminar filas con valores faltantes.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Se verificó que no quedaran datos incompletos.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2560320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347472" y="2560320"/>
            <a:ext cx="64008" cy="107899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11480" y="2560320"/>
            <a:ext cx="475488" cy="4754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11480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" y="26334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Exclusión de columnas (Data Leakage)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87552" y="294436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Se eliminaron COD_DIAG, DIAGNOSTICO, Diagnostico_Completo y Obesidad.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Estas columnas ya contienen la respuesta — usarlas sería hacer trampa.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82312" y="2560320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782312" y="2560320"/>
            <a:ext cx="64008" cy="107899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4846320" y="2560320"/>
            <a:ext cx="475488" cy="4754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846320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22392" y="26334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Variable objetivo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22392" y="294436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Se </a:t>
            </a:r>
            <a:r>
              <a:rPr lang="en-US" sz="850" dirty="0" err="1">
                <a:solidFill>
                  <a:srgbClr val="64748B"/>
                </a:solidFill>
              </a:rPr>
              <a:t>seleccionó</a:t>
            </a:r>
            <a:r>
              <a:rPr lang="en-US" sz="850" dirty="0">
                <a:solidFill>
                  <a:srgbClr val="64748B"/>
                </a:solidFill>
              </a:rPr>
              <a:t> </a:t>
            </a:r>
            <a:r>
              <a:rPr lang="en-US" sz="850" dirty="0" err="1">
                <a:solidFill>
                  <a:srgbClr val="64748B"/>
                </a:solidFill>
              </a:rPr>
              <a:t>Diagnostico</a:t>
            </a:r>
            <a:r>
              <a:rPr lang="en-US" sz="850" dirty="0">
                <a:solidFill>
                  <a:srgbClr val="64748B"/>
                </a:solidFill>
              </a:rPr>
              <a:t> como variable a predecir (Esta se </a:t>
            </a:r>
            <a:r>
              <a:rPr lang="en-US" sz="850" dirty="0" err="1">
                <a:solidFill>
                  <a:srgbClr val="64748B"/>
                </a:solidFill>
              </a:rPr>
              <a:t>creo</a:t>
            </a:r>
            <a:r>
              <a:rPr lang="en-US" sz="850" dirty="0">
                <a:solidFill>
                  <a:srgbClr val="64748B"/>
                </a:solidFill>
              </a:rPr>
              <a:t> para </a:t>
            </a:r>
            <a:r>
              <a:rPr lang="en-US" sz="850" dirty="0" err="1">
                <a:solidFill>
                  <a:srgbClr val="64748B"/>
                </a:solidFill>
              </a:rPr>
              <a:t>almacenar</a:t>
            </a:r>
            <a:r>
              <a:rPr lang="en-US" sz="850" dirty="0">
                <a:solidFill>
                  <a:srgbClr val="64748B"/>
                </a:solidFill>
              </a:rPr>
              <a:t> </a:t>
            </a:r>
            <a:r>
              <a:rPr lang="en-US" sz="850" dirty="0" err="1">
                <a:solidFill>
                  <a:srgbClr val="64748B"/>
                </a:solidFill>
              </a:rPr>
              <a:t>el</a:t>
            </a:r>
            <a:r>
              <a:rPr lang="en-US" sz="850" dirty="0">
                <a:solidFill>
                  <a:srgbClr val="64748B"/>
                </a:solidFill>
              </a:rPr>
              <a:t> </a:t>
            </a:r>
            <a:r>
              <a:rPr lang="en-US" sz="850" dirty="0" err="1">
                <a:solidFill>
                  <a:srgbClr val="64748B"/>
                </a:solidFill>
              </a:rPr>
              <a:t>resultado</a:t>
            </a:r>
            <a:r>
              <a:rPr lang="en-US" sz="850" dirty="0">
                <a:solidFill>
                  <a:srgbClr val="64748B"/>
                </a:solidFill>
              </a:rPr>
              <a:t>).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Se convirtió a códigos numéricos y luego a formato one-hot.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92608" y="3749040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347472" y="3749040"/>
            <a:ext cx="64008" cy="107899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411480" y="3749040"/>
            <a:ext cx="475488" cy="4754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411480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87552" y="38221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Normalización numérica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87552" y="413308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StandardScaler: transforma cada columna numérica para que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tenga media = 0 y desviación estándar = 1.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82312" y="3749040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4782312" y="3749040"/>
            <a:ext cx="64008" cy="107899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4846320" y="3749040"/>
            <a:ext cx="475488" cy="4754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4846320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22392" y="38221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Codificación categórica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22392" y="413308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OneHotEncoder: convierte columnas de texto en columnas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binarias (0/1). Parámetro handle_unknown='ignore'.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7472" y="4828032"/>
            <a:ext cx="8449056" cy="201168"/>
          </a:xfrm>
          <a:prstGeom prst="rect">
            <a:avLst/>
          </a:prstGeom>
          <a:solidFill>
            <a:srgbClr val="E0F2FE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457200" y="484632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28090"/>
                </a:solidFill>
              </a:rPr>
              <a:t>El preprocesador se ajusta SOLO con datos de entrenamiento (fit) y luego se aplica a validación y test (transform) — así se evita fuga de información.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0" cy="5669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PASO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63040" y="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DISTRIBUCIÓN DE LOS DATOS — TRAIN / VAL / TEST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¿Cómo se dividieron los datos y por qué?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120640" cy="8229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5577840" y="1097280"/>
            <a:ext cx="2331720" cy="82296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8001000" y="1097280"/>
            <a:ext cx="777240" cy="822960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65760" y="1097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ENTRENAMIENTO — 70%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10972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24%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01000" y="109728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2084832"/>
            <a:ext cx="27889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347472" y="2084832"/>
            <a:ext cx="64008" cy="24688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47472" y="2084832"/>
            <a:ext cx="2788920" cy="5303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38912" y="208483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70% — Entrenamiento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" y="26791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¿Para qué se usa?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" y="294436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El modelo aprende aquí. En cada época ajusta sus pesos para reducir el error sobre este conjunto.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0624" y="3776472"/>
            <a:ext cx="2642616" cy="51206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84632" y="380390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</a:rPr>
              <a:t>Código: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84632" y="39776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293B"/>
                </a:solidFill>
              </a:rPr>
              <a:t>train_test_split(..., test_size=0.30)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291840" y="2084832"/>
            <a:ext cx="27889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3291840" y="2084832"/>
            <a:ext cx="64008" cy="246888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3291840" y="2084832"/>
            <a:ext cx="2788920" cy="530352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3383280" y="208483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24% — Validación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29000" y="26791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33EA"/>
                </a:solidFill>
              </a:rPr>
              <a:t>¿Para qué se usa?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29000" y="294436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Se usa durante el entrenamiento para monitorear el val_accuracy y decidir cuándo parar (EarlyStopping). NO se aprende de aquí.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64992" y="3776472"/>
            <a:ext cx="2642616" cy="51206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3429000" y="380390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</a:rPr>
              <a:t>Código: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29000" y="39776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293B"/>
                </a:solidFill>
              </a:rPr>
              <a:t>validation_split=0.20 (dentro de fit)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236208" y="2084832"/>
            <a:ext cx="27889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6236208" y="2084832"/>
            <a:ext cx="64008" cy="2468880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6236208" y="2084832"/>
            <a:ext cx="2788920" cy="530352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6327648" y="208483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6% — Test (Prueba)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73368" y="26791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84FC"/>
                </a:solidFill>
              </a:rPr>
              <a:t>¿Para qué se usa?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73368" y="294436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Se usa UNA SOLA VEZ al final para medir el rendimiento real del modelo. Nunca lo ve durante el entrenamiento.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3776472"/>
            <a:ext cx="2642616" cy="51206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6373368" y="380390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</a:rPr>
              <a:t>Código: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373368" y="39776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293B"/>
                </a:solidFill>
              </a:rPr>
              <a:t>test_size=0.30 → separado antes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47472" y="4663440"/>
            <a:ext cx="8449056" cy="36576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4572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stratify=y_codes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28600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Garantiza que la proporción de cada diagnóstico sea la misma en train, validación y test. Sin esto, un conjunto podría tener muy pocos casos de una enfermedad rara.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0" cy="566928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PASO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63040" y="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MODELO IMPLEMENTADO — RED NEURONAL MLP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Arquitectura diseñada: ¿cómo está construida la red?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-443484" y="1097280"/>
            <a:ext cx="1417320" cy="960120"/>
          </a:xfrm>
          <a:prstGeom prst="rect">
            <a:avLst/>
          </a:prstGeom>
          <a:solidFill>
            <a:srgbClr val="3449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-443484" y="1170432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-443484" y="160934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N features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(tras OHE)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92124" y="1097280"/>
            <a:ext cx="1417320" cy="960120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992124" y="1170432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DENSE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512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92124" y="160934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Activación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ReLU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27732" y="1097280"/>
            <a:ext cx="1417320" cy="9601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427732" y="1170432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DROPOUT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0.4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7732" y="160934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Regularización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63340" y="1097280"/>
            <a:ext cx="1417320" cy="960120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863340" y="1170432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DENSE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256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63340" y="160934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Activación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ReLU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298948" y="1097280"/>
            <a:ext cx="1417320" cy="9601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298948" y="1170432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DROPOUT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0.3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98948" y="160934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Regularización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34556" y="1097280"/>
            <a:ext cx="1417320" cy="960120"/>
          </a:xfrm>
          <a:prstGeom prst="rect">
            <a:avLst/>
          </a:prstGeom>
          <a:solidFill>
            <a:srgbClr val="07598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734556" y="1170432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DENSE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128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34556" y="160934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Activación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ReLU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170164" y="1097280"/>
            <a:ext cx="1417320" cy="96012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8170164" y="1170432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 cl.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70164" y="160934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Activación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Softmax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7472" y="2212848"/>
            <a:ext cx="3977640" cy="2011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57200" y="22677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C39A"/>
                </a:solidFill>
              </a:rPr>
              <a:t>Código del modelo: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2523744"/>
            <a:ext cx="374904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Sequential([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Dense(512, activation='relu',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input_shape=(X_train.shape[1],)),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Dropout(0.4),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Dense(256, activation='relu'),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Dropout(0.3),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Dense(128, activation='relu'),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Dense(n_clases, activation='softmax')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434840" y="2212848"/>
            <a:ext cx="43616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4434840" y="2212848"/>
            <a:ext cx="64008" cy="457200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590288" y="2267712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¿Por qué ReLU?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90288" y="245059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Evita el problema de gradientes que se vuelven cero (vanishing gradient). Permite que la red aprenda patrones complejos.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434840" y="2724912"/>
            <a:ext cx="43616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4434840" y="2724912"/>
            <a:ext cx="64008" cy="457200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4590288" y="2779776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¿Por qué Dropout?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90288" y="296265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Durante el entrenamiento apaga neuronas al azar. Obliga a la red a no depender de una sola neurona. Reduce el overfitting.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434840" y="3236976"/>
            <a:ext cx="43616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4434840" y="3236976"/>
            <a:ext cx="64008" cy="457200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4590288" y="329184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¿Por qué Softmax?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90288" y="34747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En la capa de salida convierte los valores en probabilidades que suman 1. Cada probabilidad corresponde a un diagnóstico.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434840" y="3749040"/>
            <a:ext cx="43616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4434840" y="3749040"/>
            <a:ext cx="64008" cy="457200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4590288" y="3803904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¿Por qué 512→256→128?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90288" y="3986784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Capas decrecientes: la red primero extrae muchas características simples y luego las combina en representaciones más abstractas.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47472" y="4828032"/>
            <a:ext cx="8449056" cy="201168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457200" y="484174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model.compile(optimizer=Adam(lr=0.0005), loss='categorical_crossentropy', metrics=['accuracy'])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0" cy="566928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PASO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63040" y="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SELECCIÓN Y AJUSTE DE HIPERPARÁMETROS DEL MODELO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¿Qué valores se probaron y por qué se eligieron estos?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337651"/>
              </p:ext>
            </p:extLst>
          </p:nvPr>
        </p:nvGraphicFramePr>
        <p:xfrm>
          <a:off x="365760" y="1012874"/>
          <a:ext cx="8449056" cy="4002993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9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7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Hiperparámetro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Valor elegido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¿Por qué este valor?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7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Optimizador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B45309"/>
                          </a:solidFill>
                        </a:rPr>
                        <a:t>Adam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Ajusta automáticamente la tasa de aprendizaje por parámetro. Converge más rápido que SGD clásico.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7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Tasa de aprendizaje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B45309"/>
                          </a:solidFill>
                        </a:rPr>
                        <a:t>0.0005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Más lenta que el default (0.001) para mayor estabilidad. Evita saltar el mínimo.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7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Función de pérdida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B45309"/>
                          </a:solidFill>
                        </a:rPr>
                        <a:t>Categorical Crossentropy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Estándar para clasificación multiclase con codificación one-hot.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7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Épocas máximas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B45309"/>
                          </a:solidFill>
                        </a:rPr>
                        <a:t>60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Límite superior. El EarlyStopping detuvo el entrenamiento en época 25.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7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Batch size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B45309"/>
                          </a:solidFill>
                        </a:rPr>
                        <a:t>256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Lote grande = gradientes más estables. Balance entre velocidad y precisión.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7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Dropout capa 1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B45309"/>
                          </a:solidFill>
                        </a:rPr>
                        <a:t>0.4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Apaga el 40% de neuronas. Mayor regularización en la capa más grande.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7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Dropout capa 2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B45309"/>
                          </a:solidFill>
                        </a:rPr>
                        <a:t>0.3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Apaga el 30%. Menor regularización en capas más pequeñas.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7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Inicialización pesos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B45309"/>
                          </a:solidFill>
                        </a:rPr>
                        <a:t>Glorot uniform (default)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Diseñada para funciones ReLU y Softmax. Evita gradientes explosivos al inicio.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7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Balanceo de clases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B45309"/>
                          </a:solidFill>
                        </a:rPr>
                        <a:t>compute_class_weight='balanced'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850" dirty="0">
                          <a:latin typeface="+mn-lt"/>
                        </a:rPr>
                        <a:t>Cuando el </a:t>
                      </a:r>
                      <a:r>
                        <a:rPr lang="es-MX" sz="850" dirty="0" err="1">
                          <a:latin typeface="+mn-lt"/>
                        </a:rPr>
                        <a:t>dataset</a:t>
                      </a:r>
                      <a:r>
                        <a:rPr lang="es-MX" sz="850" dirty="0">
                          <a:latin typeface="+mn-lt"/>
                        </a:rPr>
                        <a:t> tiene clases desiguales (por ejemplo: 7802 muestras de una clase y solo 133 de otra), el modelo tiende a favorecer la clase mayoritaria.</a:t>
                      </a:r>
                    </a:p>
                    <a:p>
                      <a:r>
                        <a:rPr lang="es-MX" sz="850" dirty="0">
                          <a:latin typeface="+mn-lt"/>
                        </a:rPr>
                        <a:t>Para evitar eso, usamos</a:t>
                      </a:r>
                      <a:r>
                        <a:rPr lang="es-MX" sz="850" b="1" dirty="0">
                          <a:latin typeface="+mn-lt"/>
                        </a:rPr>
                        <a:t> </a:t>
                      </a:r>
                      <a:r>
                        <a:rPr lang="es-MX" sz="85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class_weight</a:t>
                      </a:r>
                      <a:r>
                        <a:rPr lang="es-MX" sz="8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s-MX" sz="85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balanced</a:t>
                      </a:r>
                      <a:r>
                        <a:rPr lang="es-MX" sz="85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endParaRPr lang="es-MX" sz="850" b="1" dirty="0">
                        <a:latin typeface="+mn-lt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07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EarlyStopping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B45309"/>
                          </a:solidFill>
                        </a:rPr>
                        <a:t>patience=7, monitor=val_accuracy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900" dirty="0"/>
                        <a:t>Se utilizó </a:t>
                      </a:r>
                      <a:r>
                        <a:rPr lang="es-MX" sz="900" dirty="0" err="1"/>
                        <a:t>EarlyStopping</a:t>
                      </a:r>
                      <a:r>
                        <a:rPr lang="es-MX" sz="900" dirty="0"/>
                        <a:t> para detener el entrenamiento cuando la precisión en validación dejó de mejorar durante 7 épocas consecutivas, evitando sobreajuste</a:t>
                      </a: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.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0" cy="566928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PASO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63040" y="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RESULTADOS DEL ENTRENAMIENTO — CURVAS DE APRENDIZAJE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¿Aprendió bien el modelo? ¿Hay overfitting?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60704"/>
            <a:ext cx="3830633" cy="2470287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60704"/>
            <a:ext cx="3830633" cy="24702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472" y="3557431"/>
            <a:ext cx="4224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Curva de Accuracy — Train vs Validación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625457" y="3569346"/>
            <a:ext cx="4224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Curva de Pérdida (Loss) — Train vs Validación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347472" y="3909060"/>
            <a:ext cx="1609344" cy="713232"/>
          </a:xfrm>
          <a:prstGeom prst="rect">
            <a:avLst/>
          </a:prstGeom>
          <a:solidFill>
            <a:srgbClr val="B45309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12" name="Text 8"/>
          <p:cNvSpPr/>
          <p:nvPr/>
        </p:nvSpPr>
        <p:spPr>
          <a:xfrm>
            <a:off x="347472" y="3945636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63.8%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47472" y="4274820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DE68A"/>
                </a:solidFill>
              </a:rPr>
              <a:t>Train Accuracy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DE68A"/>
                </a:solidFill>
              </a:rPr>
              <a:t>final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048256" y="3909060"/>
            <a:ext cx="1609344" cy="713232"/>
          </a:xfrm>
          <a:prstGeom prst="rect">
            <a:avLst/>
          </a:prstGeom>
          <a:solidFill>
            <a:srgbClr val="92400E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2048256" y="3945636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61.6%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2048256" y="4274820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DE68A"/>
                </a:solidFill>
              </a:rPr>
              <a:t>Val Accuracy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DE68A"/>
                </a:solidFill>
              </a:rPr>
              <a:t>final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749040" y="3909060"/>
            <a:ext cx="1609344" cy="713232"/>
          </a:xfrm>
          <a:prstGeom prst="rect">
            <a:avLst/>
          </a:prstGeom>
          <a:solidFill>
            <a:srgbClr val="B45309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4"/>
          <p:cNvSpPr/>
          <p:nvPr/>
        </p:nvSpPr>
        <p:spPr>
          <a:xfrm>
            <a:off x="3749040" y="3945636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0.71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749040" y="4274820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DE68A"/>
                </a:solidFill>
              </a:rPr>
              <a:t>Train Loss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DE68A"/>
                </a:solidFill>
              </a:rPr>
              <a:t>final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5449824" y="3909060"/>
            <a:ext cx="1609344" cy="713232"/>
          </a:xfrm>
          <a:prstGeom prst="rect">
            <a:avLst/>
          </a:prstGeom>
          <a:solidFill>
            <a:srgbClr val="D97706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Text 17"/>
          <p:cNvSpPr/>
          <p:nvPr/>
        </p:nvSpPr>
        <p:spPr>
          <a:xfrm>
            <a:off x="5449824" y="3945636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0.90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49824" y="4274820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DE68A"/>
                </a:solidFill>
              </a:rPr>
              <a:t>Val Loss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DE68A"/>
                </a:solidFill>
              </a:rPr>
              <a:t>final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7150608" y="3909060"/>
            <a:ext cx="1609344" cy="713232"/>
          </a:xfrm>
          <a:prstGeom prst="rect">
            <a:avLst/>
          </a:prstGeom>
          <a:solidFill>
            <a:srgbClr val="78350F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Text 20"/>
          <p:cNvSpPr/>
          <p:nvPr/>
        </p:nvSpPr>
        <p:spPr>
          <a:xfrm>
            <a:off x="7150608" y="3945636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25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7150608" y="4274820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DE68A"/>
                </a:solidFill>
              </a:rPr>
              <a:t>Épocas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DE68A"/>
                </a:solidFill>
              </a:rPr>
              <a:t>(EarlyStopping)</a:t>
            </a:r>
            <a:endParaRPr lang="en-US" sz="8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07614796-07B2-EE2D-598F-5199BE6B7889}"/>
              </a:ext>
            </a:extLst>
          </p:cNvPr>
          <p:cNvSpPr/>
          <p:nvPr/>
        </p:nvSpPr>
        <p:spPr>
          <a:xfrm>
            <a:off x="365760" y="4750307"/>
            <a:ext cx="8128313" cy="2507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MX" sz="1000" b="1" dirty="0"/>
              <a:t>El modelo mostró aprendizaje progresivo, con incremento sostenido en </a:t>
            </a:r>
            <a:r>
              <a:rPr lang="es-MX" sz="1000" b="1" dirty="0" err="1"/>
              <a:t>accuracy</a:t>
            </a:r>
            <a:r>
              <a:rPr lang="es-MX" sz="1000" b="1" dirty="0"/>
              <a:t> y disminución de la pérdida. </a:t>
            </a:r>
          </a:p>
          <a:p>
            <a:pPr algn="ctr"/>
            <a:r>
              <a:rPr lang="es-MX" sz="1000" b="1" dirty="0"/>
              <a:t>La diferencia entre entrenamiento y validación es baja, lo que indica que no presenta sobreajuste significativo y generaliza adecuadamente.</a:t>
            </a:r>
            <a:endParaRPr lang="en-US" sz="10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0" cy="566928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PASO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63040" y="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EVALUACIÓN DEL MODELO — RESULTADOS SOBRE EL CONJUNTO DE TEST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Accuracy final: 62.5% — evaluado sobre 19,113 </a:t>
            </a:r>
            <a:r>
              <a:rPr lang="en-US" sz="1300" b="1" dirty="0" err="1">
                <a:solidFill>
                  <a:srgbClr val="1E293B"/>
                </a:solidFill>
              </a:rPr>
              <a:t>muestras</a:t>
            </a:r>
            <a:r>
              <a:rPr lang="en-US" sz="1300" b="1">
                <a:solidFill>
                  <a:srgbClr val="1E293B"/>
                </a:solidFill>
              </a:rPr>
              <a:t> durante</a:t>
            </a:r>
            <a:r>
              <a:rPr lang="en-US" sz="1300" b="1" dirty="0">
                <a:solidFill>
                  <a:srgbClr val="1E293B"/>
                </a:solidFill>
              </a:rPr>
              <a:t> el entrenamiento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042416"/>
            <a:ext cx="2651760" cy="2286000"/>
          </a:xfrm>
          <a:prstGeom prst="rect">
            <a:avLst/>
          </a:prstGeom>
          <a:solidFill>
            <a:srgbClr val="0D1B3E"/>
          </a:solidFill>
          <a:ln/>
          <a:effectLst>
            <a:outerShdw blurRad="1778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47472" y="113385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ACCURACY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FINAL TEST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709928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62.5%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47472" y="254203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</a:rPr>
              <a:t>0.6253858630251661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7472" y="27980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19,113 muestras test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1042416"/>
            <a:ext cx="1847088" cy="1078992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154680" y="1133856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Weighted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Precision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54680" y="1572768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0.65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093208" y="1042416"/>
            <a:ext cx="1847088" cy="1078992"/>
          </a:xfrm>
          <a:prstGeom prst="rect">
            <a:avLst/>
          </a:prstGeom>
          <a:solidFill>
            <a:srgbClr val="7C3AE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093208" y="1133856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Weighted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Recall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93208" y="1572768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0.63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031736" y="1042416"/>
            <a:ext cx="1847088" cy="1078992"/>
          </a:xfrm>
          <a:prstGeom prst="rect">
            <a:avLst/>
          </a:prstGeom>
          <a:solidFill>
            <a:srgbClr val="B4530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7031736" y="1133856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Weighted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F1-Score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31736" y="1572768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0.63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3154680" y="2212848"/>
            <a:ext cx="1847088" cy="1078992"/>
          </a:xfrm>
          <a:prstGeom prst="rect">
            <a:avLst/>
          </a:prstGeom>
          <a:solidFill>
            <a:srgbClr val="34495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154680" y="2304288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Macro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Precision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54680" y="2743200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0.51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093208" y="2212848"/>
            <a:ext cx="1847088" cy="1078992"/>
          </a:xfrm>
          <a:prstGeom prst="rect">
            <a:avLst/>
          </a:prstGeom>
          <a:solidFill>
            <a:srgbClr val="B91C1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093208" y="2304288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Macro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Recall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93208" y="2743200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0.63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7031736" y="2212848"/>
            <a:ext cx="1847088" cy="1078992"/>
          </a:xfrm>
          <a:prstGeom prst="rect">
            <a:avLst/>
          </a:prstGeom>
          <a:solidFill>
            <a:srgbClr val="1580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7031736" y="2304288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Macro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F1-Score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31736" y="2743200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0.52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47472" y="3419856"/>
            <a:ext cx="575087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Rendimiento por diagnóstico: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989474"/>
              </p:ext>
            </p:extLst>
          </p:nvPr>
        </p:nvGraphicFramePr>
        <p:xfrm>
          <a:off x="347472" y="3703321"/>
          <a:ext cx="5750873" cy="1402138"/>
        </p:xfrm>
        <a:graphic>
          <a:graphicData uri="http://schemas.openxmlformats.org/drawingml/2006/table">
            <a:tbl>
              <a:tblPr/>
              <a:tblGrid>
                <a:gridCol w="3276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1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8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2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Diagnóstico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Precisión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Muestras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Hipotiroidismo, no especificado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</a:rPr>
                        <a:t>0.78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0.75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</a:rPr>
                        <a:t>0.76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7,802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Obesidad debida a exceso de calorías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0.52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0.53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0.52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2,391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Obesidad, no especificada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0.63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0.48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0.55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5,907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Otros tipos de obesidad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B91C1C"/>
                          </a:solidFill>
                        </a:rPr>
                        <a:t>0.12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0.74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B91C1C"/>
                          </a:solidFill>
                        </a:rPr>
                        <a:t>0.20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133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Sobrepeso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0.50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0.66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0.57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2,880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" name="Text 28">
            <a:extLst>
              <a:ext uri="{FF2B5EF4-FFF2-40B4-BE49-F238E27FC236}">
                <a16:creationId xmlns:a16="http://schemas.microsoft.com/office/drawing/2014/main" id="{197063E3-886E-2EE4-FF3B-2633F1D1D2A9}"/>
              </a:ext>
            </a:extLst>
          </p:cNvPr>
          <p:cNvSpPr/>
          <p:nvPr/>
        </p:nvSpPr>
        <p:spPr>
          <a:xfrm>
            <a:off x="6169152" y="3429576"/>
            <a:ext cx="2974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Conclusion:</a:t>
            </a:r>
            <a:endParaRPr lang="en-US" sz="1100" dirty="0"/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0B95E4AD-AD9F-D870-A931-C671E391904B}"/>
              </a:ext>
            </a:extLst>
          </p:cNvPr>
          <p:cNvSpPr/>
          <p:nvPr/>
        </p:nvSpPr>
        <p:spPr>
          <a:xfrm>
            <a:off x="6169152" y="3664213"/>
            <a:ext cx="2974848" cy="14112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s-MX" sz="1100" dirty="0"/>
              <a:t>El modelo mostró un rendimiento consistente y generalizable, alcanzando un 62.5% de </a:t>
            </a:r>
            <a:r>
              <a:rPr lang="es-MX" sz="1100" dirty="0" err="1"/>
              <a:t>accuracy</a:t>
            </a:r>
            <a:r>
              <a:rPr lang="es-MX" sz="1100" dirty="0"/>
              <a:t> en datos no vistos. Aunque existen oportunidades de mejora, los resultados son viables para escenarios de predicción preliminar y demuestran que el MLP logró capturar patrones relevantes en los exámenes clínicos.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4997196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Conclusiones y análisis de resultados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Proyecto 1 — Deep Learning — Clasificación MLP — Feb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969264"/>
            <a:ext cx="1005840" cy="5669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11480" y="96926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PASO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36192" y="1014984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El preprocesamiento con StandardScaler y OneHotEncoder fue esencial. Eliminar COD_DIAG y DIAGNOSTICO evitó fuga de datos — sin esto, el modelo hubiera "hecho trampa".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755648"/>
            <a:ext cx="1005840" cy="5669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11480" y="175564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PASO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36192" y="180136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La partición estratificada (70/24/6) con random_state=42 garantizó que las 5 clases diagnósticas estuvieran representadas proporcionalmente en los tres conjuntos.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542032"/>
            <a:ext cx="1005840" cy="566928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11480" y="254203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PASO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36192" y="2587752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La arquitectura 512→256→128 con Dropout logró generalizar bien: la diferencia entre train (63.8%) y val (61.6%) es pequeña, lo que indica ausencia de overfitting severo.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328416"/>
            <a:ext cx="1005840" cy="566928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11480" y="332841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PASO 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36192" y="3374136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Adam (lr=0.0005) + EarlyStopping (patience=7) detuvo el entrenamiento en época 25 de 60. El balanceo de clases mejoró el recall de diagnósticos minoritarios.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4114800"/>
            <a:ext cx="1005840" cy="566928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11480" y="41148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PASO 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36192" y="416052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Accuracy final de 62.5% sobre test. Hipotiroidismo fue la clase mejor aprendida (F1=0.76). "Otros tipos de obesidad" tuvo F1=0.20 por su bajo volumen (solo 133 muestras).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1418</Words>
  <Application>Microsoft Office PowerPoint</Application>
  <PresentationFormat>Presentación en pantalla (16:9)</PresentationFormat>
  <Paragraphs>264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1 – Deep Learning – Clasificación MLP</dc:title>
  <dc:subject>PptxGenJS Presentation</dc:subject>
  <dc:creator>PptxGenJS</dc:creator>
  <cp:lastModifiedBy>Andres Felipe Caraballo Cardenas</cp:lastModifiedBy>
  <cp:revision>6</cp:revision>
  <dcterms:created xsi:type="dcterms:W3CDTF">2026-02-24T02:05:20Z</dcterms:created>
  <dcterms:modified xsi:type="dcterms:W3CDTF">2026-02-24T03:19:22Z</dcterms:modified>
</cp:coreProperties>
</file>